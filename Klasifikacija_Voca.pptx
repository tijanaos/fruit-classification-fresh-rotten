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433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4332"/>
                </a:solidFill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BB-48CC-92F8-A1301F250F1F}"/>
              </c:ext>
            </c:extLst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BB-48CC-92F8-A1301F250F1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MobileNetV2 (TL)</c:v>
                </c:pt>
                <c:pt idx="1">
                  <c:v>Custom CNN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98.9</c:v>
                </c:pt>
                <c:pt idx="1">
                  <c:v>92.23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BB-48CC-92F8-A1301F250F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641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743200" cy="274320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Automatizovana klasifikacija voća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Sveže ili trulo?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5029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Tijana Ostojić</a:t>
            </a: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(RA 83/2022)  •  </a:t>
            </a:r>
            <a:r>
              <a:rPr lang="en-US" sz="1400" b="1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Toth</a:t>
            </a: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(RA 84/2022)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Asistent: Teodor </a:t>
            </a:r>
            <a:r>
              <a:rPr lang="en-US" sz="1100" dirty="0" err="1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Vidaković</a:t>
            </a: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200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🍎  🍌  🍊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i motivacija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3931920" cy="1920240"/>
          </a:xfrm>
          <a:prstGeom prst="rect">
            <a:avLst/>
          </a:prstGeom>
          <a:solidFill>
            <a:srgbClr val="EDF2F4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Cilj projekta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Prepoznati vrstu voća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(jabuka, banana, pomorandža)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Proceniti stanje voća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(sveže ili trulo)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868680"/>
            <a:ext cx="4389120" cy="1920240"/>
          </a:xfrm>
          <a:prstGeom prst="rect">
            <a:avLst/>
          </a:prstGeom>
          <a:solidFill>
            <a:srgbClr val="EDF2F4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Primena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35331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Automatizovana kontrola kvaliteta u prehrambenoj industriji i trgovinskim lancima.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907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46120"/>
            <a:ext cx="2011680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" y="3840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Brže sortiranje namirnica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96312" y="3246120"/>
            <a:ext cx="2011680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96312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96312" y="3840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Manja ljudska greška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72584" y="3246120"/>
            <a:ext cx="2011680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72584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 smtClean="0">
                <a:solidFill>
                  <a:srgbClr val="000000"/>
                </a:solidFill>
              </a:rPr>
              <a:t>♻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72584" y="3840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Manje bacanja hrane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48856" y="3246120"/>
            <a:ext cx="2011680" cy="1554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48856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48856" y="38404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Veća bezbednost potrošača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812280" y="3336235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dirty="0"/>
              <a:t>👥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Skup podataka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2560320" cy="20116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~13.000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ukupno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"Fruits Fresh and Rotten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Classification"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868680"/>
            <a:ext cx="5760720" cy="2011680"/>
          </a:xfrm>
          <a:prstGeom prst="rect">
            <a:avLst/>
          </a:prstGeom>
          <a:solidFill>
            <a:srgbClr val="EDF2F4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300" b="1" dirty="0" err="1" smtClean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82112" y="1426464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353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freshapples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82112" y="182880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755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freshbanana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82112" y="2231136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1579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freshoranges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25312" y="1426464"/>
            <a:ext cx="164592" cy="16459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353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rottenapples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25312" y="1828800"/>
            <a:ext cx="164592" cy="16459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755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rottenbanana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25312" y="2231136"/>
            <a:ext cx="164592" cy="16459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21579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rottenoranges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2999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Podela skupa podataka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337560"/>
            <a:ext cx="2743200" cy="1508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3401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3749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~6.910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2004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27832" y="3337560"/>
            <a:ext cx="2743200" cy="1508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27832" y="3401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27832" y="3749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~1.728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227832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1100" dirty="0" smtClean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35624" y="3337560"/>
            <a:ext cx="2743200" cy="1508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35624" y="3401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35624" y="3749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4.362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135624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r>
              <a:rPr lang="en-US" sz="1100" dirty="0" smtClean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Preprocesiranje i augmentacija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3931920" cy="3931920"/>
          </a:xfrm>
          <a:prstGeom prst="rect">
            <a:avLst/>
          </a:prstGeom>
          <a:solidFill>
            <a:srgbClr val="EDF2F4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14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Preprocesiranje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426464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389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na 224×224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slike moraju biti iste dimenzije za mrežu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29575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5054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Normalizacija (÷255)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8529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Pikseli iz [0,255] → [0,1] za stabilno učenje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2102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6210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Automatske labele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96849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čita nazive foldera kao klase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868680"/>
            <a:ext cx="4389120" cy="3931920"/>
          </a:xfrm>
          <a:prstGeom prst="rect">
            <a:avLst/>
          </a:prstGeom>
          <a:solidFill>
            <a:srgbClr val="EDF2F4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914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Augmentacija (samo trening)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0" y="1389888"/>
            <a:ext cx="4114800" cy="685800"/>
          </a:xfrm>
          <a:prstGeom prst="rect">
            <a:avLst/>
          </a:prstGeom>
          <a:solidFill>
            <a:srgbClr val="1B4332">
              <a:alpha val="15000"/>
            </a:srgbClr>
          </a:solidFill>
          <a:ln w="12700">
            <a:solidFill>
              <a:srgbClr val="C0D8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435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Random Flip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1463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6A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horizontal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194560"/>
            <a:ext cx="4114800" cy="685800"/>
          </a:xfrm>
          <a:prstGeom prst="rect">
            <a:avLst/>
          </a:prstGeom>
          <a:solidFill>
            <a:srgbClr val="1B4332">
              <a:alpha val="15000"/>
            </a:srgbClr>
          </a:solidFill>
          <a:ln w="12700">
            <a:solidFill>
              <a:srgbClr val="C0D8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Random Rotation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2267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6A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 ±8° (0.08)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999232"/>
            <a:ext cx="4114800" cy="685800"/>
          </a:xfrm>
          <a:prstGeom prst="rect">
            <a:avLst/>
          </a:prstGeom>
          <a:solidFill>
            <a:srgbClr val="1B4332">
              <a:alpha val="15000"/>
            </a:srgbClr>
          </a:solidFill>
          <a:ln w="12700">
            <a:solidFill>
              <a:srgbClr val="C0D8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44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Random Zoom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30723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6A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 10% (0.10)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803904"/>
            <a:ext cx="4114800" cy="685800"/>
          </a:xfrm>
          <a:prstGeom prst="rect">
            <a:avLst/>
          </a:prstGeom>
          <a:solidFill>
            <a:srgbClr val="1B4332">
              <a:alpha val="15000"/>
            </a:srgbClr>
          </a:solidFill>
          <a:ln w="12700">
            <a:solidFill>
              <a:srgbClr val="C0D8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8496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🌓  Random Contrast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23760" y="38770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6A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 15% (0.15)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4151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CNN — arhitektura mreže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konvoluciona bloka  +  2 fully connected sloja  =  19 slojeva ukupno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" y="1307592"/>
            <a:ext cx="1005840" cy="2377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" y="13990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Ulaz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" y="1783080"/>
            <a:ext cx="10058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" y="1856232"/>
            <a:ext cx="1005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224×224×3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RGB slika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16152" y="2459736"/>
            <a:ext cx="182880" cy="73152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2331720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99032" y="1307592"/>
            <a:ext cx="1234440" cy="2377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99032" y="139903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Blok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99032" y="178308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9032" y="1856232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 32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BN+ReLU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MaxPool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112×112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33472" y="2459736"/>
            <a:ext cx="182880" cy="73152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2331720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16352" y="1307592"/>
            <a:ext cx="1234440" cy="2377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16352" y="139903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Blok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16352" y="178308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1856232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 64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BN+ReLU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MaxPool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56×56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50792" y="2459736"/>
            <a:ext cx="182880" cy="73152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6512" y="2331720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33672" y="1307592"/>
            <a:ext cx="1234440" cy="2377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33672" y="139903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Blok 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33672" y="178308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1856232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 128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BN+ReLU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MaxPool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28×28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68112" y="2459736"/>
            <a:ext cx="182880" cy="73152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2331720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50992" y="1307592"/>
            <a:ext cx="1234440" cy="2377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50992" y="139903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Blok 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50992" y="178308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1856232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 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→256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85432" y="2459736"/>
            <a:ext cx="182880" cy="73152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331720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68312" y="1307592"/>
            <a:ext cx="1005840" cy="2377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68312" y="13990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068312" y="1783080"/>
            <a:ext cx="10058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1856232"/>
            <a:ext cx="1005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Dense 128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ReLU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74152" y="2459736"/>
            <a:ext cx="182880" cy="73152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19872" y="2331720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</a:rPr>
              <a:t>▶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57032" y="1307592"/>
            <a:ext cx="827333" cy="2377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138160" y="13908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Izlaz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57032" y="1783080"/>
            <a:ext cx="10058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57032" y="1856232"/>
            <a:ext cx="827333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Dense 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EFA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Softmax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0312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399032" y="3794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112×112×32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16352" y="3794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56×56×64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33672" y="3794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28×28×128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50992" y="37947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68312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57032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4242816"/>
            <a:ext cx="228600" cy="2011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4187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blok (Conv2D + BatchNorm + ReLU + MaxPool)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17720" y="4242816"/>
            <a:ext cx="228600" cy="2011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9472" y="4187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4 bez MaxPool + GlobalAvgPool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4626864"/>
            <a:ext cx="228600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" y="4572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(Dense + Dropout)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17720" y="4626864"/>
            <a:ext cx="22860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9472" y="4572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Izlazni sloj (Softmax → 6 verovatnoća)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Ključni koncepti CNN-a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251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91440" cy="12984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Conv2D — konvolucija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3×3 "klizi" po slici i traži obrasce. Blok 1 uči ivice, Blok 3 uči oblike voća.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251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91440" cy="12984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BatchNormalization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298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Normalizuje aktivacije unutar batcha. Sprečava "eksplodiranje" gradijenata i ubrzava učenje.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51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67712"/>
            <a:ext cx="91440" cy="12984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591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ReLU aktivacija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max(0, x). Sve negativne vrednosti → 0. Uvodi nelinearnost bez koje bi mreža bila beskorisna.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267712"/>
            <a:ext cx="4251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67712"/>
            <a:ext cx="91440" cy="12984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591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MaxPooling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743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Uzima maksimum iz prozora 2×2. Dimenzije se prepolovljuju: 224→112→56→28.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712464"/>
            <a:ext cx="4251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12464"/>
            <a:ext cx="91440" cy="12984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039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GlobalAvgPooling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8795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Zamenjuje Flatten. Svodi (28×28×256) na vektor od 256 vrednosti. Dramatično manje parametara.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712464"/>
            <a:ext cx="4251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12464"/>
            <a:ext cx="91440" cy="12984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039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Dropout (0.3)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418795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Gasi 30% neurona nasumično tokom treninga. Sprečava overfitting. Isključen pri predikciji.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Podešavanje treninga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3931920" cy="2926080"/>
          </a:xfrm>
          <a:prstGeom prst="rect">
            <a:avLst/>
          </a:prstGeom>
          <a:solidFill>
            <a:srgbClr val="EDF2F4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778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0.0003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928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1892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671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slike po koraku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597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funkcija: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24597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734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0.1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0266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3026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009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CM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822960"/>
            <a:ext cx="4389120" cy="2926080"/>
          </a:xfrm>
          <a:prstGeom prst="rect">
            <a:avLst/>
          </a:prstGeom>
          <a:solidFill>
            <a:srgbClr val="EDF2F4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87782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Automatska kontrola (Callbacks)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1325880"/>
            <a:ext cx="4114800" cy="685800"/>
          </a:xfrm>
          <a:prstGeom prst="rect">
            <a:avLst/>
          </a:prstGeom>
          <a:solidFill>
            <a:srgbClr val="1B4332">
              <a:alpha val="12000"/>
            </a:srgbClr>
          </a:solidFill>
          <a:ln w="12700">
            <a:solidFill>
              <a:srgbClr val="B0C8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ModelCheckpoint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1673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 model samo kad se val_loss poboljša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2130552"/>
            <a:ext cx="4114800" cy="685800"/>
          </a:xfrm>
          <a:prstGeom prst="rect">
            <a:avLst/>
          </a:prstGeom>
          <a:solidFill>
            <a:srgbClr val="1B4332">
              <a:alpha val="12000"/>
            </a:srgbClr>
          </a:solidFill>
          <a:ln w="12700">
            <a:solidFill>
              <a:srgbClr val="B0C8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176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EarlyStopping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2478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Zaustavlja trening ako nema napretka 6 epoha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2935224"/>
            <a:ext cx="4114800" cy="685800"/>
          </a:xfrm>
          <a:prstGeom prst="rect">
            <a:avLst/>
          </a:prstGeom>
          <a:solidFill>
            <a:srgbClr val="1B4332">
              <a:alpha val="12000"/>
            </a:srgbClr>
          </a:solidFill>
          <a:ln w="12700">
            <a:solidFill>
              <a:srgbClr val="B0C8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980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ReduceLROnPlateau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3282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Prepolovi learning rate ako stagnira 2 epohe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8953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Label Smoothing (0.1)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Umesto da tačna klasa ima vrednost 1.0, koristi 0.9. Ostale klase dobijaju 0.017 umesto 0.0. Sprečava model da bude previše samouveren i poboljšava generalizaciju.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— MobileNetV2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MobileNetV2 je već istreniran na ImageNet datasetu sa 1.000 klasa i 1.2 miliona slika.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Koristimo njegovo znanje o vizuelnim obrascima i dodamo novi klasifikacioni sloj za naših 6 klasa.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4251960" cy="3246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Custom </a:t>
            </a: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Uči sve od nule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~13.000 slika za učenje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62102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Sporija konvergencija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4281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Accuracy: 92.23%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4251960" cy="3246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Transfer 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3774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Predzanje sa ImageNeta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99923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1.2M slika za osnovu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62102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Brža konvergencija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424281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Accuracy: 98.90%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Rezultati i metrike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1325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320040" y="2286000"/>
          <a:ext cx="47548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5257800" y="2286000"/>
            <a:ext cx="3566160" cy="2606040"/>
          </a:xfrm>
          <a:prstGeom prst="rect">
            <a:avLst/>
          </a:prstGeom>
          <a:solidFill>
            <a:srgbClr val="EDF2F4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6"/>
          <p:cNvSpPr/>
          <p:nvPr/>
        </p:nvSpPr>
        <p:spPr>
          <a:xfrm>
            <a:off x="5394960" y="23408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metrike govore?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94960" y="2798064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Accuracy — ukupna tačnost predikcija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394960" y="3291840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Loss —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sigurnost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394960" y="378561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Precision — tačnost pozitivnih predikcija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94960" y="4279392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Recall — koliko je stvarnih slučajeva pronađeno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73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 grešaka — Custom CNN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766409"/>
              </p:ext>
            </p:extLst>
          </p:nvPr>
        </p:nvGraphicFramePr>
        <p:xfrm>
          <a:off x="320040" y="822960"/>
          <a:ext cx="4937760" cy="4114803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freshapples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dobro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freshbanana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odlično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freshoranges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dobro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rottenapples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rottenbanana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odlično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rottenoranges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kritično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40680" y="8229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nalazi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40680" y="1298448"/>
            <a:ext cx="3383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BB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40680" y="1298448"/>
            <a:ext cx="91440" cy="10789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8"/>
          <p:cNvSpPr/>
          <p:nvPr/>
        </p:nvSpPr>
        <p:spPr>
          <a:xfrm>
            <a:off x="5596128" y="13533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rottenapples → rottenoranges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96128" y="170078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slika pogrešno. Trulo voće ima sličan izgled bez obzira na vrstu — mrlje i pljesnivost zamagljuju razliku.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2505456"/>
            <a:ext cx="3383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BB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40680" y="2505456"/>
            <a:ext cx="91440" cy="10789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25603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rottenoranges — niska precision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96128" y="29077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66.49% — model previše toga proglašava trulim narandžama. Greške dolaze iz više klasa.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40680" y="3712464"/>
            <a:ext cx="3383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90D4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40680" y="3712464"/>
            <a:ext cx="91440" cy="10789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37673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rottenbanana — skoro savršeno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96128" y="41148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99.21% / 98.22%. Banana ima jedinstven oblik i tamnjenje — lako za razlikovati.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Zaključak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124712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88136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(MobileNetV2) postiže 98.9% accuracy — superioran rezultat zahvaljujući predzanju sa ImageNeta.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2020824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8424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dostiže 92.2% treniranjem od nule — solidan rezultat ali zahteva duži trening i jaču augmentaciju za rotten klase.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916936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Najveći problem: konfuzija između trulih jabuka i trulih narandži (140 grešaka) — slična vizuelna tekstura truljenja.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813048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77647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je primenljiv za automatizovanu kontrolu kvaliteta u skladištima i prodaji — brže, preciznije, bez ljudske greške.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github.com/tijanaos/Fruit-classification-fresh-rotten  |  Tijana Ostojić · David </a:t>
            </a:r>
            <a:r>
              <a:rPr lang="en-US" sz="1000" dirty="0" err="1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Toth</a:t>
            </a: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897</Words>
  <Application>Microsoft Office PowerPoint</Application>
  <PresentationFormat>On-screen Show (16:9)</PresentationFormat>
  <Paragraphs>252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Automatizovana klasifikacija voća</dc:title>
  <dc:subject>PptxGenJS Presentation</dc:subject>
  <dc:creator>PptxGenJS</dc:creator>
  <cp:lastModifiedBy>Katarina Ostojic</cp:lastModifiedBy>
  <cp:revision>13</cp:revision>
  <dcterms:created xsi:type="dcterms:W3CDTF">2026-03-01T12:09:44Z</dcterms:created>
  <dcterms:modified xsi:type="dcterms:W3CDTF">2026-03-01T12:28:19Z</dcterms:modified>
</cp:coreProperties>
</file>